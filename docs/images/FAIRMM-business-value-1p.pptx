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147472834" r:id="rId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howGuides="1">
      <p:cViewPr>
        <p:scale>
          <a:sx n="95" d="100"/>
          <a:sy n="95" d="100"/>
        </p:scale>
        <p:origin x="1664" y="6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09C3D-1005-3FFE-EDA0-07DDFCDB92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DD1C66-C9DB-9BB6-0498-EC55EFCAC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1F2E9-8E64-C38F-4BCF-A30CA1C38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CA0F-48D6-F34E-937C-ED05FCEFCFA3}" type="datetimeFigureOut">
              <a:rPr lang="en-CH" smtClean="0"/>
              <a:t>03.04.2026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2B49C-6AAA-FC14-49CE-AFEBD89AA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645A-08E6-6EDB-B021-B3D1B10A1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A11EF-B786-4345-BAB4-174E877C194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22395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EFC90-F830-AD59-3772-9768274B2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31E2F-7CF4-38AE-103F-463F7EE73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9E6A0-9B61-D730-95DB-2CCCDCC13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CA0F-48D6-F34E-937C-ED05FCEFCFA3}" type="datetimeFigureOut">
              <a:rPr lang="en-CH" smtClean="0"/>
              <a:t>03.04.2026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107EB-D1AD-CF7C-ED6E-6270BFAEB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AD3B1-B437-4D77-51BD-FADCCBAEF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A11EF-B786-4345-BAB4-174E877C194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40147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DCCB3-46A3-54C3-7C75-1FB06DA82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1DBE6-B8D9-A390-F5C4-A11E8257C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E65EC-0C27-7E37-73F1-A8C19FFFD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CA0F-48D6-F34E-937C-ED05FCEFCFA3}" type="datetimeFigureOut">
              <a:rPr lang="en-CH" smtClean="0"/>
              <a:t>03.04.2026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35A99-50AA-4828-2EF8-CB79C8BE4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53625-81B4-1F49-34A4-EF98B75B4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A11EF-B786-4345-BAB4-174E877C194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97700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1E394-BF3F-1CDE-30AF-473FBCC25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FD424-50F7-5946-2FEC-9AF9778601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384068-73C2-1910-F824-AB87B68E49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6AC24E-1D2A-6BA3-1809-BBFC0ECB0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CA0F-48D6-F34E-937C-ED05FCEFCFA3}" type="datetimeFigureOut">
              <a:rPr lang="en-CH" smtClean="0"/>
              <a:t>03.04.2026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D2BC5C-3F62-1C7F-452A-F38A3CFC6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55F1C6-D5A8-169B-8FD8-2F53D44A0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A11EF-B786-4345-BAB4-174E877C194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62911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65980-2C84-7796-58C7-797DB0027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38A458-AAA3-6FA7-E070-6F5B55BB8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36FA57-B4C7-2D0B-51BD-238384F2E8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94B187-952E-1D0F-FB7B-49B4EAEF14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97117E-E9CF-B773-4CDC-54E31EE93F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2E13DE-81B3-EFA6-7D93-FE9319434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CA0F-48D6-F34E-937C-ED05FCEFCFA3}" type="datetimeFigureOut">
              <a:rPr lang="en-CH" smtClean="0"/>
              <a:t>03.04.2026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E0FD65-9636-DE3A-F2D3-63C7D105F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A0F4C7-2461-7FFC-3E5F-A99AF7DBE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A11EF-B786-4345-BAB4-174E877C194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408531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C4DFA-1AD8-8305-ADF8-3596D13A0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99DC25-F6BE-3B23-4D5C-1A953D815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CA0F-48D6-F34E-937C-ED05FCEFCFA3}" type="datetimeFigureOut">
              <a:rPr lang="en-CH" smtClean="0"/>
              <a:t>03.04.2026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CD5101-8610-3CD6-E8E9-D5E6D8DC0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9368ED-B3C2-5BDF-D1A3-AE150BD64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A11EF-B786-4345-BAB4-174E877C194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25872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61FC3F-F880-2D48-5957-7DC74CF79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CA0F-48D6-F34E-937C-ED05FCEFCFA3}" type="datetimeFigureOut">
              <a:rPr lang="en-CH" smtClean="0"/>
              <a:t>03.04.2026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AD9D29-EA9C-07E4-8E0C-D27300EC5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F9B2C6-4725-B499-AF1A-D5EA672CB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A11EF-B786-4345-BAB4-174E877C194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70242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37538-EA7F-10B2-5533-F55EDDF8B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DA7F0-40DE-816A-8F54-8EB64A0F8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EEDD5B-F216-225B-EB33-036D93E9D1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0A9FA-6FFE-9F25-A7E4-FE70EFCB6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CA0F-48D6-F34E-937C-ED05FCEFCFA3}" type="datetimeFigureOut">
              <a:rPr lang="en-CH" smtClean="0"/>
              <a:t>03.04.2026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905B2-BF40-E709-2E50-BC2FFA2ED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185D6F-D447-A74A-693F-E226CAAEB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A11EF-B786-4345-BAB4-174E877C194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428042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3B499-1B77-6075-E568-18B997EDD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E224D0-AD60-6864-8A7F-CF63F630B2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27B696-40D0-675B-6278-C21495D2F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324C81-B795-D1FC-C239-8CBE069D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CA0F-48D6-F34E-937C-ED05FCEFCFA3}" type="datetimeFigureOut">
              <a:rPr lang="en-CH" smtClean="0"/>
              <a:t>03.04.2026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204CA6-3F9D-75F6-CFA6-D584CAF42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0413A0-EA72-66C3-2BE6-E4A0282D6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A11EF-B786-4345-BAB4-174E877C194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23032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028F4-BF6C-FDCA-5F34-498CECC1B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3F6199-60CE-1FA9-2683-6E04E588C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F5CA0-E7A1-3EEE-B63A-38D5BC563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CA0F-48D6-F34E-937C-ED05FCEFCFA3}" type="datetimeFigureOut">
              <a:rPr lang="en-CH" smtClean="0"/>
              <a:t>03.04.2026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5A64D-EC14-75C1-26EA-536EB5778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0909A-05A8-3905-E095-00F125BB1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A11EF-B786-4345-BAB4-174E877C194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71509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836C3C-DBD4-79EF-5E53-306DA39AEF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5C719D-0DB5-16E3-7924-AEDBE4D192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7438B-46E5-8D51-5193-6C0CC40C1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CA0F-48D6-F34E-937C-ED05FCEFCFA3}" type="datetimeFigureOut">
              <a:rPr lang="en-CH" smtClean="0"/>
              <a:t>03.04.2026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EA454-D296-7C93-B0DA-75B35A94A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B29A5-398E-F7B5-1EC9-724CBF85E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A11EF-B786-4345-BAB4-174E877C194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38477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0DF580-D4CF-612E-0261-43A23B419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E1CE0-295A-24A0-5345-62554DBF4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00B87-212F-A9AA-8E25-F8C9EACB9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0FCA0F-48D6-F34E-937C-ED05FCEFCFA3}" type="datetimeFigureOut">
              <a:rPr lang="en-CH" smtClean="0"/>
              <a:t>03.04.2026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11916-9B9D-2EC6-2098-57C6A195C8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B7EDE-CE20-3423-F869-FBB35A2E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1A11EF-B786-4345-BAB4-174E877C194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96828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fairmm.pistoiaalliance.or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creativecommons.org/licenses/by/4.0/deed.e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0857A06D-CC3D-52C6-CE57-C2F853047A3D}"/>
              </a:ext>
            </a:extLst>
          </p:cNvPr>
          <p:cNvGrpSpPr>
            <a:grpSpLocks noChangeAspect="1"/>
          </p:cNvGrpSpPr>
          <p:nvPr/>
        </p:nvGrpSpPr>
        <p:grpSpPr>
          <a:xfrm>
            <a:off x="872876" y="459943"/>
            <a:ext cx="10446248" cy="5938114"/>
            <a:chOff x="7570694" y="16382900"/>
            <a:chExt cx="20892495" cy="11876226"/>
          </a:xfrm>
        </p:grpSpPr>
        <p:sp>
          <p:nvSpPr>
            <p:cNvPr id="2" name="Google Shape;85;p1">
              <a:extLst>
                <a:ext uri="{FF2B5EF4-FFF2-40B4-BE49-F238E27FC236}">
                  <a16:creationId xmlns:a16="http://schemas.microsoft.com/office/drawing/2014/main" id="{60E56C05-EE12-363C-FC58-9CA630D36A10}"/>
                </a:ext>
              </a:extLst>
            </p:cNvPr>
            <p:cNvSpPr txBox="1"/>
            <p:nvPr/>
          </p:nvSpPr>
          <p:spPr>
            <a:xfrm flipV="1">
              <a:off x="24457165" y="21401879"/>
              <a:ext cx="4006024" cy="668603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58B95"/>
                </a:buClr>
                <a:buSzPts val="4800"/>
                <a:buFont typeface="Open Sans SemiBold"/>
                <a:buNone/>
              </a:pPr>
              <a:endParaRPr lang="en-US" sz="1100" i="0" u="none" strike="noStrike" cap="none" dirty="0">
                <a:solidFill>
                  <a:srgbClr val="666E71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58B95"/>
                </a:buClr>
                <a:buSzPts val="4800"/>
                <a:buFont typeface="Open Sans SemiBold"/>
                <a:buNone/>
              </a:pPr>
              <a:endParaRPr sz="1100" i="0" u="none" strike="noStrike" cap="none" dirty="0">
                <a:solidFill>
                  <a:srgbClr val="666E71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666E71"/>
                </a:buClr>
                <a:buSzPts val="3600"/>
                <a:buFont typeface="Open Sans Light"/>
                <a:buNone/>
              </a:pPr>
              <a:endParaRPr lang="en-US" sz="1100" i="0" u="none" strike="noStrike" cap="none" dirty="0">
                <a:solidFill>
                  <a:srgbClr val="666E71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666E71"/>
                </a:buClr>
                <a:buSzPts val="3600"/>
                <a:buFont typeface="Open Sans Light"/>
                <a:buNone/>
              </a:pPr>
              <a:endParaRPr lang="en-CH" sz="1100" dirty="0">
                <a:solidFill>
                  <a:srgbClr val="666E71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666E71"/>
                </a:buClr>
                <a:buSzPts val="3600"/>
                <a:buFont typeface="Open Sans Light"/>
                <a:buNone/>
              </a:pPr>
              <a:endParaRPr sz="1100" i="0" u="none" strike="noStrike" cap="none" dirty="0">
                <a:solidFill>
                  <a:srgbClr val="666E71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Open Sans SemiBold"/>
                <a:buNone/>
              </a:pPr>
              <a:endParaRPr sz="1050" b="1" i="0" u="none" strike="noStrike" cap="none" dirty="0">
                <a:solidFill>
                  <a:schemeClr val="dk1"/>
                </a:solidFill>
                <a:latin typeface="Century Gothic" panose="020B0502020202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3" name="Google Shape;85;p1">
              <a:extLst>
                <a:ext uri="{FF2B5EF4-FFF2-40B4-BE49-F238E27FC236}">
                  <a16:creationId xmlns:a16="http://schemas.microsoft.com/office/drawing/2014/main" id="{E5709FAD-9919-30C7-0C18-311C90D4E130}"/>
                </a:ext>
              </a:extLst>
            </p:cNvPr>
            <p:cNvSpPr txBox="1"/>
            <p:nvPr/>
          </p:nvSpPr>
          <p:spPr>
            <a:xfrm flipV="1">
              <a:off x="8444125" y="26100478"/>
              <a:ext cx="3304862" cy="198032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58B95"/>
                </a:buClr>
                <a:buSzPts val="4800"/>
                <a:buFont typeface="Open Sans SemiBold"/>
                <a:buNone/>
              </a:pPr>
              <a:endParaRPr lang="en-US" sz="1100" i="0" u="none" strike="noStrike" cap="none" dirty="0">
                <a:solidFill>
                  <a:srgbClr val="666E71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58B95"/>
                </a:buClr>
                <a:buSzPts val="4800"/>
                <a:buFont typeface="Open Sans SemiBold"/>
                <a:buNone/>
              </a:pPr>
              <a:endParaRPr sz="1100" i="0" u="none" strike="noStrike" cap="none" dirty="0">
                <a:solidFill>
                  <a:srgbClr val="666E71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666E71"/>
                </a:buClr>
                <a:buSzPts val="3600"/>
                <a:buFont typeface="Open Sans Light"/>
                <a:buNone/>
              </a:pPr>
              <a:endParaRPr lang="en-US" sz="1100" i="0" u="none" strike="noStrike" cap="none" dirty="0">
                <a:solidFill>
                  <a:srgbClr val="666E71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666E71"/>
                </a:buClr>
                <a:buSzPts val="3600"/>
                <a:buFont typeface="Open Sans Light"/>
                <a:buNone/>
              </a:pPr>
              <a:endParaRPr lang="en-CH" sz="1100" dirty="0">
                <a:solidFill>
                  <a:srgbClr val="666E71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666E71"/>
                </a:buClr>
                <a:buSzPts val="3600"/>
                <a:buFont typeface="Open Sans Light"/>
                <a:buNone/>
              </a:pPr>
              <a:endParaRPr sz="1100" i="0" u="none" strike="noStrike" cap="none" dirty="0">
                <a:solidFill>
                  <a:srgbClr val="666E71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Open Sans SemiBold"/>
                <a:buNone/>
              </a:pPr>
              <a:endParaRPr sz="1050" b="1" i="0" u="none" strike="noStrike" cap="none" dirty="0">
                <a:solidFill>
                  <a:schemeClr val="dk1"/>
                </a:solidFill>
                <a:latin typeface="Century Gothic" panose="020B0502020202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03159C4-C60F-2C63-C18C-69CEAF386049}"/>
                </a:ext>
              </a:extLst>
            </p:cNvPr>
            <p:cNvSpPr txBox="1"/>
            <p:nvPr/>
          </p:nvSpPr>
          <p:spPr>
            <a:xfrm>
              <a:off x="7570694" y="26425564"/>
              <a:ext cx="1514138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H" sz="700" b="0" i="0" dirty="0">
                  <a:solidFill>
                    <a:srgbClr val="000000"/>
                  </a:solidFill>
                  <a:effectLst/>
                  <a:latin typeface="Century Gothic" panose="020B0502020202020204" pitchFamily="34" charset="0"/>
                </a:rPr>
                <a:t> </a:t>
              </a:r>
              <a:endParaRPr lang="en-CH" sz="700" dirty="0">
                <a:latin typeface="Century Gothic" panose="020B0502020202020204" pitchFamily="34" charset="0"/>
              </a:endParaRPr>
            </a:p>
          </p:txBody>
        </p:sp>
        <p:pic>
          <p:nvPicPr>
            <p:cNvPr id="10" name="Google Shape;400;g304129b4c6b_0_2081">
              <a:extLst>
                <a:ext uri="{FF2B5EF4-FFF2-40B4-BE49-F238E27FC236}">
                  <a16:creationId xmlns:a16="http://schemas.microsoft.com/office/drawing/2014/main" id="{E06E169B-4D46-7C9A-CA56-EB217007214F}"/>
                </a:ext>
              </a:extLst>
            </p:cNvPr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817734" y="16382900"/>
              <a:ext cx="20380575" cy="99542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B1797C0-CBFB-FA6D-8022-FA854FD39EF2}"/>
                </a:ext>
              </a:extLst>
            </p:cNvPr>
            <p:cNvSpPr txBox="1"/>
            <p:nvPr/>
          </p:nvSpPr>
          <p:spPr>
            <a:xfrm>
              <a:off x="7673184" y="18292414"/>
              <a:ext cx="4993952" cy="461664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en-GB" sz="900" b="1" dirty="0">
                  <a:solidFill>
                    <a:srgbClr val="0093AB"/>
                  </a:solidFill>
                  <a:latin typeface="Century Gothic" panose="020B0502020202020204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fairmm.pistoiaalliance.org</a:t>
              </a:r>
              <a:endParaRPr lang="en-US" sz="900" dirty="0">
                <a:latin typeface="Century Gothic" panose="020B0502020202020204" pitchFamily="34" charset="0"/>
                <a:cs typeface="Arial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5703C56-6626-B4A5-8BA3-101593055D9C}"/>
                </a:ext>
              </a:extLst>
            </p:cNvPr>
            <p:cNvSpPr txBox="1"/>
            <p:nvPr/>
          </p:nvSpPr>
          <p:spPr>
            <a:xfrm>
              <a:off x="7727632" y="18827182"/>
              <a:ext cx="2743200" cy="46166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GB" sz="900" b="1" dirty="0">
                  <a:solidFill>
                    <a:srgbClr val="0093AB"/>
                  </a:solidFill>
                  <a:latin typeface="Century Gothic" panose="020B050202020202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CC BY 4.0</a:t>
              </a:r>
              <a:r>
                <a:rPr lang="en-GB" sz="900" b="1" dirty="0">
                  <a:solidFill>
                    <a:srgbClr val="0093AB"/>
                  </a:solidFill>
                  <a:latin typeface="Century Gothic" panose="020B0502020202020204" pitchFamily="34" charset="0"/>
                </a:rPr>
                <a:t> </a:t>
              </a:r>
              <a:r>
                <a:rPr lang="en-US" sz="900" b="1" dirty="0">
                  <a:solidFill>
                    <a:srgbClr val="0093AB"/>
                  </a:solidFill>
                  <a:latin typeface="Century Gothic" panose="020B0502020202020204" pitchFamily="34" charset="0"/>
                </a:rPr>
                <a:t>​</a:t>
              </a:r>
              <a:r>
                <a:rPr lang="en-GB" sz="900" b="1" dirty="0">
                  <a:solidFill>
                    <a:srgbClr val="0093AB"/>
                  </a:solidFill>
                  <a:latin typeface="Century Gothic" panose="020B0502020202020204" pitchFamily="34" charset="0"/>
                </a:rPr>
                <a:t>​</a:t>
              </a:r>
            </a:p>
          </p:txBody>
        </p:sp>
        <p:pic>
          <p:nvPicPr>
            <p:cNvPr id="13" name="Picture 12" descr="A qr code on a white background&#10;&#10;AI-generated content may be incorrect.">
              <a:extLst>
                <a:ext uri="{FF2B5EF4-FFF2-40B4-BE49-F238E27FC236}">
                  <a16:creationId xmlns:a16="http://schemas.microsoft.com/office/drawing/2014/main" id="{B796E8E3-1FC7-4323-A498-34F45A3C5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549655" y="26504162"/>
              <a:ext cx="1733094" cy="1676148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7B6A272-BD8F-D456-EE1D-62D78F248CC1}"/>
                </a:ext>
              </a:extLst>
            </p:cNvPr>
            <p:cNvSpPr txBox="1"/>
            <p:nvPr/>
          </p:nvSpPr>
          <p:spPr>
            <a:xfrm>
              <a:off x="8528760" y="26248776"/>
              <a:ext cx="3071542" cy="12618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rtl="0" fontAlgn="base">
                <a:spcBef>
                  <a:spcPts val="750"/>
                </a:spcBef>
                <a:spcAft>
                  <a:spcPts val="1125"/>
                </a:spcAft>
                <a:buNone/>
              </a:pPr>
              <a:r>
                <a:rPr lang="en-GB" sz="700" b="0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Application Centric Business Value, classically, we see desktop integration of disparate data systems. Data is a “tactical asset”. </a:t>
              </a:r>
              <a:endParaRPr lang="en-GB" sz="7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31E63CA-7678-371F-3C11-3474A974BDEC}"/>
                </a:ext>
              </a:extLst>
            </p:cNvPr>
            <p:cNvSpPr txBox="1"/>
            <p:nvPr/>
          </p:nvSpPr>
          <p:spPr>
            <a:xfrm>
              <a:off x="11811144" y="24686001"/>
              <a:ext cx="2871880" cy="23391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rtl="0" fontAlgn="base">
                <a:spcBef>
                  <a:spcPts val="750"/>
                </a:spcBef>
                <a:spcAft>
                  <a:spcPts val="1125"/>
                </a:spcAft>
                <a:buNone/>
              </a:pPr>
              <a:r>
                <a:rPr lang="en-GB" sz="700" b="1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Speed</a:t>
              </a:r>
              <a:r>
                <a:rPr lang="en-GB" sz="700" b="0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 and </a:t>
              </a:r>
              <a:r>
                <a:rPr lang="en-GB" sz="700" b="1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cost</a:t>
              </a:r>
              <a:r>
                <a:rPr lang="en-GB" sz="700" b="0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 are the main </a:t>
              </a:r>
              <a:r>
                <a:rPr lang="en-GB" sz="700" b="1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benefits</a:t>
              </a:r>
              <a:r>
                <a:rPr lang="en-GB" sz="700" b="0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. Humans can more efficiently locate important data assets; for example, researchers take much less time to find data. There is also a reduction in redundant data collection. Data is recognised as a Strategic Asset. </a:t>
              </a:r>
              <a:endParaRPr lang="en-GB" sz="7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E1F40F2-E184-F885-1384-9761D7410AAC}"/>
                </a:ext>
              </a:extLst>
            </p:cNvPr>
            <p:cNvSpPr txBox="1"/>
            <p:nvPr/>
          </p:nvSpPr>
          <p:spPr>
            <a:xfrm>
              <a:off x="14969548" y="23135505"/>
              <a:ext cx="2871880" cy="32008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rtl="0" fontAlgn="base">
                <a:spcBef>
                  <a:spcPts val="750"/>
                </a:spcBef>
                <a:spcAft>
                  <a:spcPts val="1125"/>
                </a:spcAft>
                <a:buNone/>
              </a:pPr>
              <a:r>
                <a:rPr lang="en-GB" sz="700" b="1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Speed</a:t>
              </a:r>
              <a:r>
                <a:rPr lang="en-GB" sz="700" b="0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, </a:t>
              </a:r>
              <a:r>
                <a:rPr lang="en-GB" sz="700" b="1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cost-effectiveness</a:t>
              </a:r>
              <a:r>
                <a:rPr lang="en-GB" sz="700" b="0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, and </a:t>
              </a:r>
              <a:r>
                <a:rPr lang="en-GB" sz="700" b="1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machine</a:t>
              </a:r>
              <a:r>
                <a:rPr lang="en-GB" sz="700" b="0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 </a:t>
              </a:r>
              <a:r>
                <a:rPr lang="en-GB" sz="700" b="1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automation</a:t>
              </a:r>
              <a:r>
                <a:rPr lang="en-GB" sz="700" b="0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 </a:t>
              </a:r>
              <a:r>
                <a:rPr lang="en-GB" sz="700" b="1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increase</a:t>
              </a:r>
              <a:r>
                <a:rPr lang="en-GB" sz="700" b="0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. Use-cases for machine-findable and interpretable data start becoming possible. Data access quantification and qualification (license, costs) </a:t>
              </a:r>
              <a:r>
                <a:rPr lang="en-GB" sz="700" b="1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reduce</a:t>
              </a:r>
              <a:r>
                <a:rPr lang="en-GB" sz="700" b="0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 </a:t>
              </a:r>
              <a:r>
                <a:rPr lang="en-GB" sz="700" b="1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barriers</a:t>
              </a:r>
              <a:r>
                <a:rPr lang="en-GB" sz="700" b="0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 to </a:t>
              </a:r>
              <a:r>
                <a:rPr lang="en-GB" sz="700" b="1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access</a:t>
              </a:r>
              <a:r>
                <a:rPr lang="en-GB" sz="700" b="0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. Being decoupled from applications, data increases its applicability, further </a:t>
              </a:r>
              <a:r>
                <a:rPr lang="en-GB" sz="700" b="1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reducing</a:t>
              </a:r>
              <a:r>
                <a:rPr lang="en-GB" sz="700" b="0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 the need for new </a:t>
              </a:r>
              <a:r>
                <a:rPr lang="en-GB" sz="700" b="1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data</a:t>
              </a:r>
              <a:r>
                <a:rPr lang="en-GB" sz="700" b="0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 </a:t>
              </a:r>
              <a:r>
                <a:rPr lang="en-GB" sz="700" b="1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creation</a:t>
              </a:r>
              <a:r>
                <a:rPr lang="en-GB" sz="700" b="0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 or </a:t>
              </a:r>
              <a:r>
                <a:rPr lang="en-GB" sz="700" b="1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acquisition</a:t>
              </a:r>
              <a:r>
                <a:rPr lang="en-GB" sz="700" b="0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. </a:t>
              </a:r>
              <a:endParaRPr lang="en-GB" sz="7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65A1799-AE23-CE3F-7464-AF3CEE255EC7}"/>
                </a:ext>
              </a:extLst>
            </p:cNvPr>
            <p:cNvSpPr txBox="1"/>
            <p:nvPr/>
          </p:nvSpPr>
          <p:spPr>
            <a:xfrm>
              <a:off x="18429845" y="22405077"/>
              <a:ext cx="2293192" cy="27699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rtl="0" fontAlgn="base">
                <a:spcBef>
                  <a:spcPts val="750"/>
                </a:spcBef>
                <a:spcAft>
                  <a:spcPts val="1125"/>
                </a:spcAft>
                <a:buNone/>
              </a:pPr>
              <a:r>
                <a:rPr lang="en-GB" sz="700" b="1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Department-level</a:t>
              </a:r>
              <a:r>
                <a:rPr lang="en-GB" sz="700" b="0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 </a:t>
              </a:r>
              <a:r>
                <a:rPr lang="en-GB" sz="700" b="1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data</a:t>
              </a:r>
              <a:r>
                <a:rPr lang="en-GB" sz="700" b="0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 </a:t>
              </a:r>
              <a:r>
                <a:rPr lang="en-GB" sz="700" b="1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reuse</a:t>
              </a:r>
              <a:r>
                <a:rPr lang="en-GB" sz="700" b="0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 and </a:t>
              </a:r>
              <a:r>
                <a:rPr lang="en-GB" sz="700" b="1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insight</a:t>
              </a:r>
              <a:r>
                <a:rPr lang="en-GB" sz="700" b="0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 </a:t>
              </a:r>
              <a:r>
                <a:rPr lang="en-GB" sz="700" b="1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generation</a:t>
              </a:r>
              <a:r>
                <a:rPr lang="en-GB" sz="700" b="0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; increased </a:t>
              </a:r>
              <a:r>
                <a:rPr lang="en-GB" sz="700" b="1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effectiveness</a:t>
              </a:r>
              <a:r>
                <a:rPr lang="en-GB" sz="700" b="0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 and efficiency of data resources available in the organization. </a:t>
              </a:r>
              <a:r>
                <a:rPr lang="en-GB" sz="700" b="1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Reuse</a:t>
              </a:r>
              <a:r>
                <a:rPr lang="en-GB" sz="700" b="0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 of data </a:t>
              </a:r>
              <a:r>
                <a:rPr lang="en-GB" sz="700" b="1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reduces</a:t>
              </a:r>
              <a:r>
                <a:rPr lang="en-GB" sz="700" b="0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 procurement </a:t>
              </a:r>
              <a:r>
                <a:rPr lang="en-GB" sz="700" b="1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costs</a:t>
              </a:r>
              <a:r>
                <a:rPr lang="en-GB" sz="700" b="0" i="0" dirty="0">
                  <a:solidFill>
                    <a:srgbClr val="373737"/>
                  </a:solidFill>
                  <a:effectLst/>
                  <a:latin typeface="Century Gothic" panose="020B0502020202020204" pitchFamily="34" charset="0"/>
                </a:rPr>
                <a:t> and the need for data generation. </a:t>
              </a:r>
              <a:endParaRPr lang="en-GB" sz="7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04AF69D-EEDE-3BAF-1CF4-C132469E5B56}"/>
                </a:ext>
              </a:extLst>
            </p:cNvPr>
            <p:cNvSpPr txBox="1"/>
            <p:nvPr/>
          </p:nvSpPr>
          <p:spPr>
            <a:xfrm>
              <a:off x="21440865" y="21858233"/>
              <a:ext cx="2871880" cy="38779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800" dirty="0">
                  <a:solidFill>
                    <a:srgbClr val="373737"/>
                  </a:solidFill>
                  <a:latin typeface="Century Gothic" panose="020B0502020202020204" pitchFamily="34" charset="0"/>
                </a:rPr>
                <a:t>Data exchange across functions enables </a:t>
              </a:r>
              <a:r>
                <a:rPr lang="en-GB" sz="800" b="1" dirty="0">
                  <a:solidFill>
                    <a:srgbClr val="373737"/>
                  </a:solidFill>
                  <a:latin typeface="Century Gothic" panose="020B0502020202020204" pitchFamily="34" charset="0"/>
                </a:rPr>
                <a:t>more</a:t>
              </a:r>
              <a:r>
                <a:rPr lang="en-GB" sz="800" dirty="0">
                  <a:solidFill>
                    <a:srgbClr val="373737"/>
                  </a:solidFill>
                  <a:latin typeface="Century Gothic" panose="020B0502020202020204" pitchFamily="34" charset="0"/>
                </a:rPr>
                <a:t> and better </a:t>
              </a:r>
              <a:r>
                <a:rPr lang="en-GB" sz="800" b="1" dirty="0">
                  <a:solidFill>
                    <a:srgbClr val="373737"/>
                  </a:solidFill>
                  <a:latin typeface="Century Gothic" panose="020B0502020202020204" pitchFamily="34" charset="0"/>
                </a:rPr>
                <a:t>quality</a:t>
              </a:r>
              <a:r>
                <a:rPr lang="en-GB" sz="800" dirty="0">
                  <a:solidFill>
                    <a:srgbClr val="373737"/>
                  </a:solidFill>
                  <a:latin typeface="Century Gothic" panose="020B0502020202020204" pitchFamily="34" charset="0"/>
                </a:rPr>
                <a:t> </a:t>
              </a:r>
              <a:r>
                <a:rPr lang="en-GB" sz="800" b="1" dirty="0">
                  <a:solidFill>
                    <a:srgbClr val="373737"/>
                  </a:solidFill>
                  <a:latin typeface="Century Gothic" panose="020B0502020202020204" pitchFamily="34" charset="0"/>
                </a:rPr>
                <a:t>AI training data sets for LLM.</a:t>
              </a:r>
              <a:r>
                <a:rPr lang="en-GB" sz="800" dirty="0">
                  <a:solidFill>
                    <a:srgbClr val="373737"/>
                  </a:solidFill>
                  <a:latin typeface="Century Gothic" panose="020B0502020202020204" pitchFamily="34" charset="0"/>
                </a:rPr>
                <a:t> It facilitates insight generation (e.g., competitive intelligence, market access, clinical development) by humans and machines. Interoperability enables data-set integration. Facilitated regulatory compliance and auditing. 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E09B594-E6FD-50E2-AEC5-C7A77EF3AED9}"/>
                </a:ext>
              </a:extLst>
            </p:cNvPr>
            <p:cNvSpPr txBox="1"/>
            <p:nvPr/>
          </p:nvSpPr>
          <p:spPr>
            <a:xfrm>
              <a:off x="21831089" y="27643572"/>
              <a:ext cx="2267842" cy="615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700" b="1" i="1" dirty="0">
                  <a:solidFill>
                    <a:srgbClr val="373737"/>
                  </a:solidFill>
                  <a:latin typeface="Century Gothic" panose="020B0502020202020204" pitchFamily="34" charset="0"/>
                </a:rPr>
                <a:t>BEST PRACTICE</a:t>
              </a:r>
            </a:p>
            <a:p>
              <a:r>
                <a:rPr lang="en-GB" sz="700" b="1" i="1" dirty="0">
                  <a:solidFill>
                    <a:srgbClr val="373737"/>
                  </a:solidFill>
                  <a:latin typeface="Century Gothic" panose="020B0502020202020204" pitchFamily="34" charset="0"/>
                </a:rPr>
                <a:t> </a:t>
              </a:r>
              <a:endParaRPr lang="en-CH" sz="700" b="1" dirty="0">
                <a:latin typeface="Century Gothic" panose="020B050202020202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9A0C168-FE23-97E8-D6E9-60F95E378847}"/>
                </a:ext>
              </a:extLst>
            </p:cNvPr>
            <p:cNvSpPr txBox="1"/>
            <p:nvPr/>
          </p:nvSpPr>
          <p:spPr>
            <a:xfrm>
              <a:off x="25342051" y="27643572"/>
              <a:ext cx="226784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700" b="1" i="1" dirty="0">
                  <a:solidFill>
                    <a:srgbClr val="373737"/>
                  </a:solidFill>
                  <a:latin typeface="Century Gothic" panose="020B0502020202020204" pitchFamily="34" charset="0"/>
                </a:rPr>
                <a:t>ASPIRATIONAL</a:t>
              </a:r>
              <a:endParaRPr lang="en-CH" sz="700" b="1" dirty="0">
                <a:latin typeface="Century Gothic" panose="020B0502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2DC6BFF-4AB2-FA68-19E9-8E022D5D61EE}"/>
                </a:ext>
              </a:extLst>
            </p:cNvPr>
            <p:cNvSpPr txBox="1"/>
            <p:nvPr/>
          </p:nvSpPr>
          <p:spPr>
            <a:xfrm>
              <a:off x="9119866" y="27630814"/>
              <a:ext cx="211544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700" b="1" i="1" dirty="0">
                  <a:solidFill>
                    <a:srgbClr val="373737"/>
                  </a:solidFill>
                  <a:latin typeface="Century Gothic" panose="020B0502020202020204" pitchFamily="34" charset="0"/>
                </a:rPr>
                <a:t>Status QUO</a:t>
              </a:r>
              <a:endParaRPr lang="en-CH" sz="700" b="1" dirty="0">
                <a:latin typeface="Century Gothic" panose="020B0502020202020204" pitchFamily="34" charset="0"/>
              </a:endParaRPr>
            </a:p>
          </p:txBody>
        </p:sp>
        <p:sp>
          <p:nvSpPr>
            <p:cNvPr id="22" name="Google Shape;85;p1">
              <a:extLst>
                <a:ext uri="{FF2B5EF4-FFF2-40B4-BE49-F238E27FC236}">
                  <a16:creationId xmlns:a16="http://schemas.microsoft.com/office/drawing/2014/main" id="{49C85979-325C-AB38-6A0E-FB2E2DB4390F}"/>
                </a:ext>
              </a:extLst>
            </p:cNvPr>
            <p:cNvSpPr txBox="1"/>
            <p:nvPr/>
          </p:nvSpPr>
          <p:spPr>
            <a:xfrm flipV="1">
              <a:off x="24457165" y="21401879"/>
              <a:ext cx="4006024" cy="448596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58B95"/>
                </a:buClr>
                <a:buSzPts val="4800"/>
                <a:buFont typeface="Open Sans SemiBold"/>
                <a:buNone/>
              </a:pPr>
              <a:endParaRPr lang="en-US" sz="1100" i="0" u="none" strike="noStrike" cap="none" dirty="0">
                <a:solidFill>
                  <a:srgbClr val="666E71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58B95"/>
                </a:buClr>
                <a:buSzPts val="4800"/>
                <a:buFont typeface="Open Sans SemiBold"/>
                <a:buNone/>
              </a:pPr>
              <a:endParaRPr sz="1100" i="0" u="none" strike="noStrike" cap="none" dirty="0">
                <a:solidFill>
                  <a:srgbClr val="666E71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666E71"/>
                </a:buClr>
                <a:buSzPts val="3600"/>
                <a:buFont typeface="Open Sans Light"/>
                <a:buNone/>
              </a:pPr>
              <a:endParaRPr lang="en-US" sz="1100" i="0" u="none" strike="noStrike" cap="none" dirty="0">
                <a:solidFill>
                  <a:srgbClr val="666E71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666E71"/>
                </a:buClr>
                <a:buSzPts val="3600"/>
                <a:buFont typeface="Open Sans Light"/>
                <a:buNone/>
              </a:pPr>
              <a:endParaRPr lang="en-CH" sz="1100" dirty="0">
                <a:solidFill>
                  <a:srgbClr val="666E71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666E71"/>
                </a:buClr>
                <a:buSzPts val="3600"/>
                <a:buFont typeface="Open Sans Light"/>
                <a:buNone/>
              </a:pPr>
              <a:endParaRPr sz="1100" i="0" u="none" strike="noStrike" cap="none" dirty="0">
                <a:solidFill>
                  <a:srgbClr val="666E71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Open Sans SemiBold"/>
                <a:buNone/>
              </a:pPr>
              <a:endParaRPr sz="1050" b="1" i="0" u="none" strike="noStrike" cap="none" dirty="0">
                <a:solidFill>
                  <a:schemeClr val="dk1"/>
                </a:solidFill>
                <a:latin typeface="Century Gothic" panose="020B0502020202020204" pitchFamily="34" charset="0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E007568-ED23-3088-74F9-8DD8D3F77969}"/>
                </a:ext>
              </a:extLst>
            </p:cNvPr>
            <p:cNvSpPr txBox="1"/>
            <p:nvPr/>
          </p:nvSpPr>
          <p:spPr>
            <a:xfrm>
              <a:off x="24795725" y="21858233"/>
              <a:ext cx="3592694" cy="56015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800" dirty="0">
                  <a:solidFill>
                    <a:srgbClr val="373737"/>
                  </a:solidFill>
                  <a:latin typeface="Century Gothic" panose="020B0502020202020204" pitchFamily="34" charset="0"/>
                </a:rPr>
                <a:t>Ability to </a:t>
              </a:r>
              <a:r>
                <a:rPr lang="en-GB" sz="800" b="1" dirty="0">
                  <a:solidFill>
                    <a:srgbClr val="373737"/>
                  </a:solidFill>
                  <a:latin typeface="Century Gothic" panose="020B0502020202020204" pitchFamily="34" charset="0"/>
                </a:rPr>
                <a:t>exchange</a:t>
              </a:r>
              <a:r>
                <a:rPr lang="en-GB" sz="800" dirty="0">
                  <a:solidFill>
                    <a:srgbClr val="373737"/>
                  </a:solidFill>
                  <a:latin typeface="Century Gothic" panose="020B0502020202020204" pitchFamily="34" charset="0"/>
                </a:rPr>
                <a:t> and </a:t>
              </a:r>
              <a:r>
                <a:rPr lang="en-GB" sz="800" b="1" dirty="0">
                  <a:solidFill>
                    <a:srgbClr val="373737"/>
                  </a:solidFill>
                  <a:latin typeface="Century Gothic" panose="020B0502020202020204" pitchFamily="34" charset="0"/>
                </a:rPr>
                <a:t>augment</a:t>
              </a:r>
              <a:r>
                <a:rPr lang="en-GB" sz="800" dirty="0">
                  <a:solidFill>
                    <a:srgbClr val="373737"/>
                  </a:solidFill>
                  <a:latin typeface="Century Gothic" panose="020B0502020202020204" pitchFamily="34" charset="0"/>
                </a:rPr>
                <a:t> </a:t>
              </a:r>
              <a:r>
                <a:rPr lang="en-GB" sz="800" b="1" dirty="0">
                  <a:solidFill>
                    <a:srgbClr val="373737"/>
                  </a:solidFill>
                  <a:latin typeface="Century Gothic" panose="020B0502020202020204" pitchFamily="34" charset="0"/>
                </a:rPr>
                <a:t>data</a:t>
              </a:r>
              <a:r>
                <a:rPr lang="en-GB" sz="800" dirty="0">
                  <a:solidFill>
                    <a:srgbClr val="373737"/>
                  </a:solidFill>
                  <a:latin typeface="Century Gothic" panose="020B0502020202020204" pitchFamily="34" charset="0"/>
                </a:rPr>
                <a:t> sets </a:t>
              </a:r>
              <a:r>
                <a:rPr lang="en-GB" sz="800" b="1" dirty="0">
                  <a:solidFill>
                    <a:srgbClr val="373737"/>
                  </a:solidFill>
                  <a:latin typeface="Century Gothic" panose="020B0502020202020204" pitchFamily="34" charset="0"/>
                </a:rPr>
                <a:t>across</a:t>
              </a:r>
              <a:r>
                <a:rPr lang="en-GB" sz="800" dirty="0">
                  <a:solidFill>
                    <a:srgbClr val="373737"/>
                  </a:solidFill>
                  <a:latin typeface="Century Gothic" panose="020B0502020202020204" pitchFamily="34" charset="0"/>
                </a:rPr>
                <a:t> </a:t>
              </a:r>
              <a:r>
                <a:rPr lang="en-GB" sz="800" b="1" dirty="0">
                  <a:solidFill>
                    <a:srgbClr val="373737"/>
                  </a:solidFill>
                  <a:latin typeface="Century Gothic" panose="020B0502020202020204" pitchFamily="34" charset="0"/>
                </a:rPr>
                <a:t>organizations</a:t>
              </a:r>
              <a:r>
                <a:rPr lang="en-GB" sz="800" dirty="0">
                  <a:solidFill>
                    <a:srgbClr val="373737"/>
                  </a:solidFill>
                  <a:latin typeface="Century Gothic" panose="020B0502020202020204" pitchFamily="34" charset="0"/>
                </a:rPr>
                <a:t>. Cross-organizational insight generation. </a:t>
              </a:r>
              <a:r>
                <a:rPr lang="en-GB" sz="800" b="1" dirty="0">
                  <a:solidFill>
                    <a:srgbClr val="373737"/>
                  </a:solidFill>
                  <a:latin typeface="Century Gothic" panose="020B0502020202020204" pitchFamily="34" charset="0"/>
                </a:rPr>
                <a:t>AI trusted actionability </a:t>
              </a:r>
              <a:r>
                <a:rPr lang="en-GB" sz="800" dirty="0">
                  <a:solidFill>
                    <a:srgbClr val="373737"/>
                  </a:solidFill>
                  <a:latin typeface="Century Gothic" panose="020B0502020202020204" pitchFamily="34" charset="0"/>
                </a:rPr>
                <a:t>significantly increase. Increased cost-effectiveness of FAIR infrastructure investments via cost-sharing across organizations. </a:t>
              </a:r>
              <a:r>
                <a:rPr lang="en-GB" sz="800" b="1" dirty="0">
                  <a:solidFill>
                    <a:srgbClr val="373737"/>
                  </a:solidFill>
                  <a:latin typeface="Century Gothic" panose="020B0502020202020204" pitchFamily="34" charset="0"/>
                </a:rPr>
                <a:t>Secondary</a:t>
              </a:r>
              <a:r>
                <a:rPr lang="en-GB" sz="800" dirty="0">
                  <a:solidFill>
                    <a:srgbClr val="373737"/>
                  </a:solidFill>
                  <a:latin typeface="Century Gothic" panose="020B0502020202020204" pitchFamily="34" charset="0"/>
                </a:rPr>
                <a:t> </a:t>
              </a:r>
              <a:r>
                <a:rPr lang="en-GB" sz="800" b="1" dirty="0">
                  <a:solidFill>
                    <a:srgbClr val="373737"/>
                  </a:solidFill>
                  <a:latin typeface="Century Gothic" panose="020B0502020202020204" pitchFamily="34" charset="0"/>
                </a:rPr>
                <a:t>reuse</a:t>
              </a:r>
              <a:r>
                <a:rPr lang="en-GB" sz="800" dirty="0">
                  <a:solidFill>
                    <a:srgbClr val="373737"/>
                  </a:solidFill>
                  <a:latin typeface="Century Gothic" panose="020B0502020202020204" pitchFamily="34" charset="0"/>
                </a:rPr>
                <a:t> of </a:t>
              </a:r>
              <a:r>
                <a:rPr lang="en-GB" sz="800" b="1" dirty="0">
                  <a:solidFill>
                    <a:srgbClr val="373737"/>
                  </a:solidFill>
                  <a:latin typeface="Century Gothic" panose="020B0502020202020204" pitchFamily="34" charset="0"/>
                </a:rPr>
                <a:t>data</a:t>
              </a:r>
              <a:r>
                <a:rPr lang="en-GB" sz="800" dirty="0">
                  <a:solidFill>
                    <a:srgbClr val="373737"/>
                  </a:solidFill>
                  <a:latin typeface="Century Gothic" panose="020B0502020202020204" pitchFamily="34" charset="0"/>
                </a:rPr>
                <a:t> emerges . Real-world evidence data-mining and improved patient outcomes. Enhanced drug development efficacy, drug repurposing, and overall reduced time-to-market are expected. </a:t>
              </a:r>
              <a:r>
                <a:rPr lang="en-GB" sz="800" b="1" dirty="0">
                  <a:solidFill>
                    <a:srgbClr val="373737"/>
                  </a:solidFill>
                  <a:latin typeface="Century Gothic" panose="020B0502020202020204" pitchFamily="34" charset="0"/>
                </a:rPr>
                <a:t>Level 5 </a:t>
              </a:r>
              <a:r>
                <a:rPr lang="en-GB" sz="800" dirty="0">
                  <a:solidFill>
                    <a:srgbClr val="373737"/>
                  </a:solidFill>
                  <a:latin typeface="Century Gothic" panose="020B0502020202020204" pitchFamily="34" charset="0"/>
                </a:rPr>
                <a:t>represents the emerges a truly </a:t>
              </a:r>
              <a:r>
                <a:rPr lang="en-GB" sz="800" b="1" dirty="0">
                  <a:solidFill>
                    <a:srgbClr val="373737"/>
                  </a:solidFill>
                  <a:latin typeface="Century Gothic" panose="020B0502020202020204" pitchFamily="34" charset="0"/>
                </a:rPr>
                <a:t>data centric ecosystem with interoperable and reusable </a:t>
              </a:r>
              <a:r>
                <a:rPr lang="en-GB" sz="800" dirty="0">
                  <a:solidFill>
                    <a:srgbClr val="373737"/>
                  </a:solidFill>
                  <a:latin typeface="Century Gothic" panose="020B0502020202020204" pitchFamily="34" charset="0"/>
                </a:rPr>
                <a:t>data across organizations.</a:t>
              </a: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3D33CF4E-FA0F-B490-926A-BD809D3BF3F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27632" y="19351957"/>
              <a:ext cx="1688028" cy="1980320"/>
            </a:xfrm>
            <a:prstGeom prst="rect">
              <a:avLst/>
            </a:prstGeom>
          </p:spPr>
        </p:pic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C69D1933-8E75-4707-3075-1E26CF3CB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473" y="210265"/>
            <a:ext cx="10515600" cy="1325563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0093AB"/>
                </a:solidFill>
                <a:latin typeface="Century Gothic" panose="020B0502020202020204" pitchFamily="34" charset="0"/>
                <a:ea typeface="+mn-ea"/>
                <a:cs typeface="+mn-cs"/>
              </a:rPr>
              <a:t>FAIR Maturity and Business Value</a:t>
            </a:r>
          </a:p>
        </p:txBody>
      </p:sp>
    </p:spTree>
    <p:extLst>
      <p:ext uri="{BB962C8B-B14F-4D97-AF65-F5344CB8AC3E}">
        <p14:creationId xmlns:p14="http://schemas.microsoft.com/office/powerpoint/2010/main" val="3082435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305</Words>
  <Application>Microsoft Macintosh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Century Gothic</vt:lpstr>
      <vt:lpstr>Open Sans Light</vt:lpstr>
      <vt:lpstr>Open Sans SemiBold</vt:lpstr>
      <vt:lpstr>Office Theme</vt:lpstr>
      <vt:lpstr>FAIR Maturity and Business Value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Giovanni Nisato</dc:creator>
  <cp:lastModifiedBy>Giovanni Nisato</cp:lastModifiedBy>
  <cp:revision>3</cp:revision>
  <dcterms:created xsi:type="dcterms:W3CDTF">2026-04-03T18:06:17Z</dcterms:created>
  <dcterms:modified xsi:type="dcterms:W3CDTF">2026-04-03T18:42:28Z</dcterms:modified>
</cp:coreProperties>
</file>